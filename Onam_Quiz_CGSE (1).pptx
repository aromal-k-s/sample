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58" r:id="rId5"/>
    <p:sldId id="259" r:id="rId6"/>
    <p:sldId id="269" r:id="rId7"/>
    <p:sldId id="270" r:id="rId8"/>
    <p:sldId id="271" r:id="rId9"/>
    <p:sldId id="279" r:id="rId10"/>
    <p:sldId id="280" r:id="rId11"/>
    <p:sldId id="276" r:id="rId12"/>
    <p:sldId id="290" r:id="rId13"/>
    <p:sldId id="281" r:id="rId14"/>
    <p:sldId id="292" r:id="rId15"/>
    <p:sldId id="287" r:id="rId16"/>
    <p:sldId id="273" r:id="rId17"/>
    <p:sldId id="301" r:id="rId18"/>
    <p:sldId id="295" r:id="rId19"/>
    <p:sldId id="294" r:id="rId20"/>
    <p:sldId id="296" r:id="rId21"/>
    <p:sldId id="291" r:id="rId22"/>
    <p:sldId id="272" r:id="rId23"/>
    <p:sldId id="286" r:id="rId24"/>
    <p:sldId id="293" r:id="rId25"/>
    <p:sldId id="288" r:id="rId26"/>
    <p:sldId id="298" r:id="rId27"/>
    <p:sldId id="300" r:id="rId28"/>
    <p:sldId id="299" r:id="rId29"/>
    <p:sldId id="289" r:id="rId30"/>
    <p:sldId id="268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096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05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31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11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77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0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52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22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07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9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10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25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12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79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7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865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632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300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7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285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150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210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05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110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536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1757680" y="13716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4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072640" y="29057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chemeClr val="accent6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ONAM QUIZ</a:t>
            </a:r>
            <a:endParaRPr lang="en-US" sz="4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27596" y="2341880"/>
            <a:ext cx="2011680" cy="0"/>
          </a:xfrm>
          <a:prstGeom prst="line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8960" y="2463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 |  VSSC</a:t>
            </a:r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38400" y="38887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Harvest of Questions  •  3 Rounds  •  20 Seconds for Each question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17A77F-E826-48B5-B10D-BF70D32DF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7160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0928" y="4379976"/>
            <a:ext cx="3127248" cy="3127248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81260" y="4750308"/>
            <a:ext cx="2386584" cy="2386584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5120640"/>
            <a:ext cx="1645920" cy="164592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21924" y="5490972"/>
            <a:ext cx="905256" cy="905256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Quiz Works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07899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6E4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ക്വിസ് നടത്തിപ്പ്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Rounds questions on Onam — general knowledge, no options given.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3500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ml-IN" sz="1400" dirty="0">
                <a:solidFill>
                  <a:schemeClr val="accent6">
                    <a:lumMod val="50000"/>
                  </a:schemeClr>
                </a:solidFill>
              </a:rPr>
              <a:t> റൗണ്ട്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</a:t>
            </a:r>
            <a:r>
              <a:rPr lang="en-US" sz="1400" dirty="0">
                <a:solidFill>
                  <a:srgbClr val="2C6E4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ചോദ്യങ്ങൾ — ഓപ്ഷനുകൾ ഇല്ല.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gets 20 seconds on the on-screen timer.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4015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6E4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ഓരോ ചോദ്യത്തിനും 20 സെക്കൻഡ് സമയം.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0233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as soon as you know it — quickest correct answer wins the round.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4531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6E4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ആദ്യം ശരിയുത്തരം പറയുന്നവർക്ക് പോയിന്റ്.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CGSE | VSSC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78F53AE-9065-4315-A6DE-28596858B25F}"/>
              </a:ext>
            </a:extLst>
          </p:cNvPr>
          <p:cNvGrpSpPr/>
          <p:nvPr/>
        </p:nvGrpSpPr>
        <p:grpSpPr>
          <a:xfrm>
            <a:off x="10171176" y="4872228"/>
            <a:ext cx="3127248" cy="3127248"/>
            <a:chOff x="9710928" y="4379976"/>
            <a:chExt cx="3127248" cy="3127248"/>
          </a:xfrm>
        </p:grpSpPr>
        <p:sp>
          <p:nvSpPr>
            <p:cNvPr id="2" name="Shape 0"/>
            <p:cNvSpPr/>
            <p:nvPr/>
          </p:nvSpPr>
          <p:spPr>
            <a:xfrm>
              <a:off x="9710928" y="4379976"/>
              <a:ext cx="3127248" cy="3127248"/>
            </a:xfrm>
            <a:prstGeom prst="ellipse">
              <a:avLst/>
            </a:prstGeom>
            <a:solidFill>
              <a:srgbClr val="7A1E3C">
                <a:alpha val="12000"/>
              </a:srgbClr>
            </a:solidFill>
            <a:ln/>
          </p:spPr>
        </p:sp>
        <p:sp>
          <p:nvSpPr>
            <p:cNvPr id="3" name="Shape 1"/>
            <p:cNvSpPr/>
            <p:nvPr/>
          </p:nvSpPr>
          <p:spPr>
            <a:xfrm>
              <a:off x="10081260" y="4750308"/>
              <a:ext cx="2386584" cy="2386584"/>
            </a:xfrm>
            <a:prstGeom prst="ellipse">
              <a:avLst/>
            </a:prstGeom>
            <a:solidFill>
              <a:srgbClr val="D4A017">
                <a:alpha val="22000"/>
              </a:srgbClr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10451592" y="5120640"/>
              <a:ext cx="1645920" cy="1645920"/>
            </a:xfrm>
            <a:prstGeom prst="ellipse">
              <a:avLst/>
            </a:prstGeom>
            <a:solidFill>
              <a:srgbClr val="2C6E49">
                <a:alpha val="20000"/>
              </a:srgbClr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10821924" y="5490972"/>
              <a:ext cx="905256" cy="905256"/>
            </a:xfrm>
            <a:prstGeom prst="ellipse">
              <a:avLst/>
            </a:prstGeom>
            <a:solidFill>
              <a:srgbClr val="D4A017">
                <a:alpha val="35000"/>
              </a:srgbClr>
            </a:solidFill>
            <a:ln/>
          </p:spPr>
        </p:sp>
      </p:grpSp>
      <p:sp>
        <p:nvSpPr>
          <p:cNvPr id="6" name="Text 4"/>
          <p:cNvSpPr/>
          <p:nvPr/>
        </p:nvSpPr>
        <p:spPr>
          <a:xfrm>
            <a:off x="4976368" y="28336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- 1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CGSE | VSSC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4D8CD69-696E-4400-92B9-E7DD79CA8C3F}"/>
              </a:ext>
            </a:extLst>
          </p:cNvPr>
          <p:cNvGrpSpPr/>
          <p:nvPr/>
        </p:nvGrpSpPr>
        <p:grpSpPr>
          <a:xfrm>
            <a:off x="-1088136" y="-1132332"/>
            <a:ext cx="3127248" cy="3127248"/>
            <a:chOff x="9710928" y="4379976"/>
            <a:chExt cx="3127248" cy="3127248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8022B930-10E7-4DD9-A5A6-1175341DC651}"/>
                </a:ext>
              </a:extLst>
            </p:cNvPr>
            <p:cNvSpPr/>
            <p:nvPr/>
          </p:nvSpPr>
          <p:spPr>
            <a:xfrm>
              <a:off x="9710928" y="4379976"/>
              <a:ext cx="3127248" cy="3127248"/>
            </a:xfrm>
            <a:prstGeom prst="ellipse">
              <a:avLst/>
            </a:prstGeom>
            <a:solidFill>
              <a:srgbClr val="7A1E3C">
                <a:alpha val="12000"/>
              </a:srgbClr>
            </a:solidFill>
            <a:ln/>
          </p:spPr>
        </p:sp>
        <p:sp>
          <p:nvSpPr>
            <p:cNvPr id="24" name="Shape 1">
              <a:extLst>
                <a:ext uri="{FF2B5EF4-FFF2-40B4-BE49-F238E27FC236}">
                  <a16:creationId xmlns:a16="http://schemas.microsoft.com/office/drawing/2014/main" id="{C8BA13E5-DCBB-4B28-8410-F39EFBED960D}"/>
                </a:ext>
              </a:extLst>
            </p:cNvPr>
            <p:cNvSpPr/>
            <p:nvPr/>
          </p:nvSpPr>
          <p:spPr>
            <a:xfrm>
              <a:off x="10081260" y="4750308"/>
              <a:ext cx="2386584" cy="2386584"/>
            </a:xfrm>
            <a:prstGeom prst="ellipse">
              <a:avLst/>
            </a:prstGeom>
            <a:solidFill>
              <a:srgbClr val="D4A017">
                <a:alpha val="22000"/>
              </a:srgbClr>
            </a:solidFill>
            <a:ln/>
          </p:spPr>
        </p:sp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6D28CCC4-7929-4E64-965B-07736924704D}"/>
                </a:ext>
              </a:extLst>
            </p:cNvPr>
            <p:cNvSpPr/>
            <p:nvPr/>
          </p:nvSpPr>
          <p:spPr>
            <a:xfrm>
              <a:off x="10451592" y="5120640"/>
              <a:ext cx="1645920" cy="1645920"/>
            </a:xfrm>
            <a:prstGeom prst="ellipse">
              <a:avLst/>
            </a:prstGeom>
            <a:solidFill>
              <a:srgbClr val="2C6E49">
                <a:alpha val="20000"/>
              </a:srgbClr>
            </a:solidFill>
            <a:ln/>
          </p:spPr>
        </p:sp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F1D7E689-F787-417C-BC50-D839213F7EAD}"/>
                </a:ext>
              </a:extLst>
            </p:cNvPr>
            <p:cNvSpPr/>
            <p:nvPr/>
          </p:nvSpPr>
          <p:spPr>
            <a:xfrm>
              <a:off x="10821924" y="5490972"/>
              <a:ext cx="905256" cy="905256"/>
            </a:xfrm>
            <a:prstGeom prst="ellipse">
              <a:avLst/>
            </a:prstGeom>
            <a:solidFill>
              <a:srgbClr val="D4A017">
                <a:alpha val="35000"/>
              </a:srgbClr>
            </a:solidFill>
            <a:ln/>
          </p:spPr>
        </p:sp>
      </p:grpSp>
    </p:spTree>
    <p:extLst>
      <p:ext uri="{BB962C8B-B14F-4D97-AF65-F5344CB8AC3E}">
        <p14:creationId xmlns:p14="http://schemas.microsoft.com/office/powerpoint/2010/main" val="165812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which year was Onam declared the national festival of Kerala?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1FC9EF-A69E-474F-8BEE-CF7209F8C225}"/>
              </a:ext>
            </a:extLst>
          </p:cNvPr>
          <p:cNvGrpSpPr/>
          <p:nvPr/>
        </p:nvGrpSpPr>
        <p:grpSpPr>
          <a:xfrm>
            <a:off x="666206" y="3185160"/>
            <a:ext cx="7863840" cy="1680754"/>
            <a:chOff x="666206" y="3185160"/>
            <a:chExt cx="7863840" cy="1680754"/>
          </a:xfrm>
        </p:grpSpPr>
        <p:sp>
          <p:nvSpPr>
            <p:cNvPr id="11" name="Shape 9"/>
            <p:cNvSpPr/>
            <p:nvPr/>
          </p:nvSpPr>
          <p:spPr>
            <a:xfrm>
              <a:off x="666206" y="3185160"/>
              <a:ext cx="7863840" cy="1517469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38052" y="3494314"/>
              <a:ext cx="73152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ഓണം കേരളത്തിൻറെ ദേശീയ ഉത്സവം ആക്കിയ വർഷം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874034" y="2383791"/>
            <a:ext cx="2651760" cy="265176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3604CA35-9EAE-42AC-A27B-49386FF48DA7}"/>
              </a:ext>
            </a:extLst>
          </p:cNvPr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second day of Onam is also known by another name. What is it?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416F6E-DEDD-46A5-B27D-5ACDC99D27D1}"/>
              </a:ext>
            </a:extLst>
          </p:cNvPr>
          <p:cNvGrpSpPr/>
          <p:nvPr/>
        </p:nvGrpSpPr>
        <p:grpSpPr>
          <a:xfrm>
            <a:off x="640080" y="3289663"/>
            <a:ext cx="7863840" cy="1737360"/>
            <a:chOff x="640080" y="3289663"/>
            <a:chExt cx="7863840" cy="1737360"/>
          </a:xfrm>
        </p:grpSpPr>
        <p:sp>
          <p:nvSpPr>
            <p:cNvPr id="11" name="Shape 9"/>
            <p:cNvSpPr/>
            <p:nvPr/>
          </p:nvSpPr>
          <p:spPr>
            <a:xfrm>
              <a:off x="640080" y="3289663"/>
              <a:ext cx="7863840" cy="1465217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77240" y="3655423"/>
              <a:ext cx="772668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രണ്ടാം ഓണം മറ്റൊരു പേരിലും അറിയപ്പെടുന്നു ഏതു പേരിൽ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DC1B027B-2DEF-4B9B-B939-9318DB362863}"/>
              </a:ext>
            </a:extLst>
          </p:cNvPr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of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Mahabali’s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father?</a:t>
            </a:r>
            <a:endParaRPr lang="en-US" sz="27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271CC0-3852-4E78-965A-FBF3D94E716C}"/>
              </a:ext>
            </a:extLst>
          </p:cNvPr>
          <p:cNvGrpSpPr/>
          <p:nvPr/>
        </p:nvGrpSpPr>
        <p:grpSpPr>
          <a:xfrm>
            <a:off x="640080" y="2616926"/>
            <a:ext cx="7863840" cy="1783080"/>
            <a:chOff x="640080" y="3017520"/>
            <a:chExt cx="7863840" cy="1783080"/>
          </a:xfrm>
        </p:grpSpPr>
        <p:sp>
          <p:nvSpPr>
            <p:cNvPr id="11" name="Shape 9"/>
            <p:cNvSpPr/>
            <p:nvPr/>
          </p:nvSpPr>
          <p:spPr>
            <a:xfrm>
              <a:off x="640080" y="3017520"/>
              <a:ext cx="7863840" cy="1162594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22959" y="3429000"/>
              <a:ext cx="73152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മഹാബലിയുടെ പിതാവിൻറെ പേര്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5505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of the word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Mahabali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7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105F2B-14D4-4FE1-B4BD-D9456ABEAD29}"/>
              </a:ext>
            </a:extLst>
          </p:cNvPr>
          <p:cNvGrpSpPr/>
          <p:nvPr/>
        </p:nvGrpSpPr>
        <p:grpSpPr>
          <a:xfrm>
            <a:off x="640080" y="2605823"/>
            <a:ext cx="7863840" cy="1682930"/>
            <a:chOff x="533400" y="2834641"/>
            <a:chExt cx="7863840" cy="1682930"/>
          </a:xfrm>
        </p:grpSpPr>
        <p:sp>
          <p:nvSpPr>
            <p:cNvPr id="11" name="Shape 9"/>
            <p:cNvSpPr/>
            <p:nvPr/>
          </p:nvSpPr>
          <p:spPr>
            <a:xfrm>
              <a:off x="533400" y="2834641"/>
              <a:ext cx="7863840" cy="96012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85800" y="3145971"/>
              <a:ext cx="73152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 എന്ന വാക്കിനർത്ഥം എന്താണ്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7280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Mahabali’s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real name?</a:t>
            </a:r>
            <a:endParaRPr lang="en-US" sz="27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BA19B2-B4AD-4773-8B1E-E86ECBCE5365}"/>
              </a:ext>
            </a:extLst>
          </p:cNvPr>
          <p:cNvGrpSpPr/>
          <p:nvPr/>
        </p:nvGrpSpPr>
        <p:grpSpPr>
          <a:xfrm>
            <a:off x="640080" y="2676797"/>
            <a:ext cx="7863840" cy="1230085"/>
            <a:chOff x="640080" y="2880360"/>
            <a:chExt cx="7863840" cy="1230085"/>
          </a:xfrm>
        </p:grpSpPr>
        <p:sp>
          <p:nvSpPr>
            <p:cNvPr id="11" name="Shape 9"/>
            <p:cNvSpPr/>
            <p:nvPr/>
          </p:nvSpPr>
          <p:spPr>
            <a:xfrm>
              <a:off x="640080" y="2880360"/>
              <a:ext cx="7863840" cy="100584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90154" y="3200400"/>
              <a:ext cx="7315200" cy="9100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മഹാബലിയുടെ യഥാർത്ഥ പേര് എന്താണ്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002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IN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Which Veda mentions Onam?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BE7CD6-00F5-4163-823E-E85BFDD78999}"/>
              </a:ext>
            </a:extLst>
          </p:cNvPr>
          <p:cNvGrpSpPr/>
          <p:nvPr/>
        </p:nvGrpSpPr>
        <p:grpSpPr>
          <a:xfrm>
            <a:off x="596537" y="2532888"/>
            <a:ext cx="7863840" cy="758952"/>
            <a:chOff x="685800" y="4160520"/>
            <a:chExt cx="7863840" cy="758952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758952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315200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ഓണത്തെക്കുറിച്ച് പരാമർശിക്കുന്ന വേദം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7849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760220"/>
            <a:ext cx="78638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When is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Piller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Onam celebrated?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1DE442-DED0-454B-BE57-3039DA1BF419}"/>
              </a:ext>
            </a:extLst>
          </p:cNvPr>
          <p:cNvGrpSpPr/>
          <p:nvPr/>
        </p:nvGrpSpPr>
        <p:grpSpPr>
          <a:xfrm>
            <a:off x="640080" y="2407920"/>
            <a:ext cx="8092440" cy="777240"/>
            <a:chOff x="685800" y="4160520"/>
            <a:chExt cx="8092440" cy="777240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8092440" cy="77724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19" y="4343400"/>
              <a:ext cx="7678784" cy="472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എന്നാണ് പിള്ളേരോണം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</a:t>
              </a: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ആഘോഷിക്കുന്നത്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558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5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was the name of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Mahabali's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son?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B1BAFDE-37FA-44FA-86A6-30DA34B1DDDC}"/>
              </a:ext>
            </a:extLst>
          </p:cNvPr>
          <p:cNvGrpSpPr/>
          <p:nvPr/>
        </p:nvGrpSpPr>
        <p:grpSpPr>
          <a:xfrm>
            <a:off x="640080" y="2681369"/>
            <a:ext cx="7863840" cy="868680"/>
            <a:chOff x="685800" y="4160520"/>
            <a:chExt cx="7863840" cy="868680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86868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3152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മഹാബലിയുടെ പുത്രൻറെ പേര് എന്താണ്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6735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78F53AE-9065-4315-A6DE-28596858B25F}"/>
              </a:ext>
            </a:extLst>
          </p:cNvPr>
          <p:cNvGrpSpPr/>
          <p:nvPr/>
        </p:nvGrpSpPr>
        <p:grpSpPr>
          <a:xfrm>
            <a:off x="10171176" y="4872228"/>
            <a:ext cx="3127248" cy="3127248"/>
            <a:chOff x="9710928" y="4379976"/>
            <a:chExt cx="3127248" cy="3127248"/>
          </a:xfrm>
        </p:grpSpPr>
        <p:sp>
          <p:nvSpPr>
            <p:cNvPr id="2" name="Shape 0"/>
            <p:cNvSpPr/>
            <p:nvPr/>
          </p:nvSpPr>
          <p:spPr>
            <a:xfrm>
              <a:off x="9710928" y="4379976"/>
              <a:ext cx="3127248" cy="3127248"/>
            </a:xfrm>
            <a:prstGeom prst="ellipse">
              <a:avLst/>
            </a:prstGeom>
            <a:solidFill>
              <a:srgbClr val="7A1E3C">
                <a:alpha val="12000"/>
              </a:srgbClr>
            </a:solidFill>
            <a:ln/>
          </p:spPr>
        </p:sp>
        <p:sp>
          <p:nvSpPr>
            <p:cNvPr id="3" name="Shape 1"/>
            <p:cNvSpPr/>
            <p:nvPr/>
          </p:nvSpPr>
          <p:spPr>
            <a:xfrm>
              <a:off x="10081260" y="4750308"/>
              <a:ext cx="2386584" cy="2386584"/>
            </a:xfrm>
            <a:prstGeom prst="ellipse">
              <a:avLst/>
            </a:prstGeom>
            <a:solidFill>
              <a:srgbClr val="D4A017">
                <a:alpha val="22000"/>
              </a:srgbClr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10451592" y="5120640"/>
              <a:ext cx="1645920" cy="1645920"/>
            </a:xfrm>
            <a:prstGeom prst="ellipse">
              <a:avLst/>
            </a:prstGeom>
            <a:solidFill>
              <a:srgbClr val="2C6E49">
                <a:alpha val="20000"/>
              </a:srgbClr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10821924" y="5490972"/>
              <a:ext cx="905256" cy="905256"/>
            </a:xfrm>
            <a:prstGeom prst="ellipse">
              <a:avLst/>
            </a:prstGeom>
            <a:solidFill>
              <a:srgbClr val="D4A017">
                <a:alpha val="35000"/>
              </a:srgbClr>
            </a:solidFill>
            <a:ln/>
          </p:spPr>
        </p:sp>
      </p:grpSp>
      <p:sp>
        <p:nvSpPr>
          <p:cNvPr id="6" name="Text 4"/>
          <p:cNvSpPr/>
          <p:nvPr/>
        </p:nvSpPr>
        <p:spPr>
          <a:xfrm>
            <a:off x="4976368" y="28336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- 2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CGSE | VSSC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4D8CD69-696E-4400-92B9-E7DD79CA8C3F}"/>
              </a:ext>
            </a:extLst>
          </p:cNvPr>
          <p:cNvGrpSpPr/>
          <p:nvPr/>
        </p:nvGrpSpPr>
        <p:grpSpPr>
          <a:xfrm>
            <a:off x="-1088136" y="-1132332"/>
            <a:ext cx="3127248" cy="3127248"/>
            <a:chOff x="9710928" y="4379976"/>
            <a:chExt cx="3127248" cy="3127248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8022B930-10E7-4DD9-A5A6-1175341DC651}"/>
                </a:ext>
              </a:extLst>
            </p:cNvPr>
            <p:cNvSpPr/>
            <p:nvPr/>
          </p:nvSpPr>
          <p:spPr>
            <a:xfrm>
              <a:off x="9710928" y="4379976"/>
              <a:ext cx="3127248" cy="3127248"/>
            </a:xfrm>
            <a:prstGeom prst="ellipse">
              <a:avLst/>
            </a:prstGeom>
            <a:solidFill>
              <a:srgbClr val="7A1E3C">
                <a:alpha val="12000"/>
              </a:srgbClr>
            </a:solidFill>
            <a:ln/>
          </p:spPr>
        </p:sp>
        <p:sp>
          <p:nvSpPr>
            <p:cNvPr id="24" name="Shape 1">
              <a:extLst>
                <a:ext uri="{FF2B5EF4-FFF2-40B4-BE49-F238E27FC236}">
                  <a16:creationId xmlns:a16="http://schemas.microsoft.com/office/drawing/2014/main" id="{C8BA13E5-DCBB-4B28-8410-F39EFBED960D}"/>
                </a:ext>
              </a:extLst>
            </p:cNvPr>
            <p:cNvSpPr/>
            <p:nvPr/>
          </p:nvSpPr>
          <p:spPr>
            <a:xfrm>
              <a:off x="10081260" y="4750308"/>
              <a:ext cx="2386584" cy="2386584"/>
            </a:xfrm>
            <a:prstGeom prst="ellipse">
              <a:avLst/>
            </a:prstGeom>
            <a:solidFill>
              <a:srgbClr val="D4A017">
                <a:alpha val="22000"/>
              </a:srgbClr>
            </a:solidFill>
            <a:ln/>
          </p:spPr>
        </p:sp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6D28CCC4-7929-4E64-965B-07736924704D}"/>
                </a:ext>
              </a:extLst>
            </p:cNvPr>
            <p:cNvSpPr/>
            <p:nvPr/>
          </p:nvSpPr>
          <p:spPr>
            <a:xfrm>
              <a:off x="10451592" y="5120640"/>
              <a:ext cx="1645920" cy="1645920"/>
            </a:xfrm>
            <a:prstGeom prst="ellipse">
              <a:avLst/>
            </a:prstGeom>
            <a:solidFill>
              <a:srgbClr val="2C6E49">
                <a:alpha val="20000"/>
              </a:srgbClr>
            </a:solidFill>
            <a:ln/>
          </p:spPr>
        </p:sp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F1D7E689-F787-417C-BC50-D839213F7EAD}"/>
                </a:ext>
              </a:extLst>
            </p:cNvPr>
            <p:cNvSpPr/>
            <p:nvPr/>
          </p:nvSpPr>
          <p:spPr>
            <a:xfrm>
              <a:off x="10821924" y="5490972"/>
              <a:ext cx="905256" cy="905256"/>
            </a:xfrm>
            <a:prstGeom prst="ellipse">
              <a:avLst/>
            </a:prstGeom>
            <a:solidFill>
              <a:srgbClr val="D4A017">
                <a:alpha val="35000"/>
              </a:srgbClr>
            </a:solidFill>
            <a:ln/>
          </p:spPr>
        </p:sp>
      </p:grpSp>
    </p:spTree>
    <p:extLst>
      <p:ext uri="{BB962C8B-B14F-4D97-AF65-F5344CB8AC3E}">
        <p14:creationId xmlns:p14="http://schemas.microsoft.com/office/powerpoint/2010/main" val="1557605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which river is the famous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Aranmula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Vallamkali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traditionally associated with Onam, held?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555171" y="3027099"/>
            <a:ext cx="8125097" cy="1214846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ഓണത്തിന് പ്രധാനമായും ഒരുക്കുന്ന ആറന്മുള വള്ളംകളി ഏതു നദിയിലാണ് നടത്തുന്നത്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2392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IN" sz="2800" dirty="0">
                <a:solidFill>
                  <a:schemeClr val="accent2">
                    <a:lumMod val="50000"/>
                  </a:schemeClr>
                </a:solidFill>
              </a:rPr>
              <a:t>Who wrote the poem </a:t>
            </a:r>
            <a:r>
              <a:rPr lang="en-IN" sz="2800" b="1" dirty="0">
                <a:solidFill>
                  <a:schemeClr val="accent2">
                    <a:lumMod val="50000"/>
                  </a:schemeClr>
                </a:solidFill>
              </a:rPr>
              <a:t>“</a:t>
            </a:r>
            <a:r>
              <a:rPr lang="en-IN" sz="2800" b="1" dirty="0" err="1">
                <a:solidFill>
                  <a:schemeClr val="accent2">
                    <a:lumMod val="50000"/>
                  </a:schemeClr>
                </a:solidFill>
              </a:rPr>
              <a:t>Onappaattukaar</a:t>
            </a:r>
            <a:r>
              <a:rPr lang="en-IN" sz="2800" b="1" dirty="0">
                <a:solidFill>
                  <a:schemeClr val="accent2">
                    <a:lumMod val="50000"/>
                  </a:schemeClr>
                </a:solidFill>
              </a:rPr>
              <a:t>” (</a:t>
            </a:r>
            <a:r>
              <a:rPr lang="ml-IN" sz="2800" b="1" dirty="0">
                <a:solidFill>
                  <a:schemeClr val="accent2">
                    <a:lumMod val="50000"/>
                  </a:schemeClr>
                </a:solidFill>
              </a:rPr>
              <a:t>ഓണപ്പാട്ടുകാർ)</a:t>
            </a:r>
            <a:r>
              <a:rPr lang="ml-IN" sz="2800" dirty="0">
                <a:solidFill>
                  <a:schemeClr val="accent2">
                    <a:lumMod val="50000"/>
                  </a:schemeClr>
                </a:solidFill>
              </a:rPr>
              <a:t>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7042" y="2397579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2935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815193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Traditional form of martial arts performed during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onam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festival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411806" y="2912145"/>
            <a:ext cx="8529720" cy="1214846"/>
            <a:chOff x="828955" y="3296194"/>
            <a:chExt cx="7905914" cy="1572986"/>
          </a:xfrm>
        </p:grpSpPr>
        <p:sp>
          <p:nvSpPr>
            <p:cNvPr id="11" name="Shape 9"/>
            <p:cNvSpPr/>
            <p:nvPr/>
          </p:nvSpPr>
          <p:spPr>
            <a:xfrm>
              <a:off x="828955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71029" y="3497580"/>
              <a:ext cx="786384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ഓണാഘോഷത്തിന്റെ ഭാഗമായി അവതരിപ്പിക്കുന്ന പരമ്പരാഗത ആയോധനകലാരൂപം ഏതാണ്?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45702" y="2306574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0166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592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was the name of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Mahabali's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wife?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2C4A98-F4BC-4802-AB60-7F4D4504A5D6}"/>
              </a:ext>
            </a:extLst>
          </p:cNvPr>
          <p:cNvGrpSpPr/>
          <p:nvPr/>
        </p:nvGrpSpPr>
        <p:grpSpPr>
          <a:xfrm>
            <a:off x="640080" y="2606040"/>
            <a:ext cx="7863840" cy="1554480"/>
            <a:chOff x="685800" y="4160520"/>
            <a:chExt cx="7863840" cy="1554480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820783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3152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മഹാബലിയുടെ പത്നിയുടെ പേര്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7472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149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For the one who has, it is Onam; for the one who has not, it is ________.”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601327" y="3126812"/>
            <a:ext cx="8231777" cy="1331978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1"/>
              <a:ext cx="7556862" cy="1054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പ്രസിദ്ധമായ ഓണപ്പഴഞ്ചൊല്ല് പൂർത്തിയാക്കുക: “ഉള്ളവന് ഓണം; ഇല്ലാത്തവന് ________.”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3889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6</a:t>
            </a:r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Who was the king who first introduced ‘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</a:rPr>
              <a:t>Pulikali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’, the main entertainment associated with Onam in Thrissur district?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457200" y="3298372"/>
            <a:ext cx="8231777" cy="1678502"/>
            <a:chOff x="410955" y="3971798"/>
            <a:chExt cx="7863840" cy="1583182"/>
          </a:xfrm>
        </p:grpSpPr>
        <p:sp>
          <p:nvSpPr>
            <p:cNvPr id="11" name="Shape 9"/>
            <p:cNvSpPr/>
            <p:nvPr/>
          </p:nvSpPr>
          <p:spPr>
            <a:xfrm>
              <a:off x="410955" y="3971798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53359" y="41833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ഓണവുമായി ബന്ധപ്പെട്ട തൃശ്ശൂർ ജില്ലയിലെ പ്രധാന വിനോദമായ ‘പുലിക്കളി’ ആദ്യമായി അവതരിപ്പിച്ച രാജാവ് ആര്?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8876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2578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Which is the only temple in Kerala where Vamana Murthy, who pushed King 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</a:rPr>
              <a:t>Mahabali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 down to the underworld, is the main deity?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601327" y="3209108"/>
            <a:ext cx="8231777" cy="1667692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മഹാബലി രാജാവിനെ പാതാളത്തിലേക്ക് ചവിട്ടിത്താഴ്ത്തിയ വാമനമൂർത്തി പ്രധാന പ്രതിഷ്ഠയായ കേരളത്തിലെ ഏക ക്ഷേത്രം ഏത്?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2507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Who discovered and published the book ‘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</a:rPr>
              <a:t>Keralolpathi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’, which describes the history and legends of Kerala?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601327" y="3126812"/>
            <a:ext cx="8231777" cy="1667692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കേരളത്തിന്റെ ചരിത്രവും ഐതിഹ്യവും വിവരിക്കുന്ന ‘കേരളോൽപ്പത്തി’ എന്ന ഗ്രന്ഥം കണ്ടെത്തി പ്രസിദ്ധീകരിച്ചത് ആരാണ്?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853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78F53AE-9065-4315-A6DE-28596858B25F}"/>
              </a:ext>
            </a:extLst>
          </p:cNvPr>
          <p:cNvGrpSpPr/>
          <p:nvPr/>
        </p:nvGrpSpPr>
        <p:grpSpPr>
          <a:xfrm>
            <a:off x="10171176" y="4872228"/>
            <a:ext cx="3127248" cy="3127248"/>
            <a:chOff x="9710928" y="4379976"/>
            <a:chExt cx="3127248" cy="3127248"/>
          </a:xfrm>
        </p:grpSpPr>
        <p:sp>
          <p:nvSpPr>
            <p:cNvPr id="2" name="Shape 0"/>
            <p:cNvSpPr/>
            <p:nvPr/>
          </p:nvSpPr>
          <p:spPr>
            <a:xfrm>
              <a:off x="9710928" y="4379976"/>
              <a:ext cx="3127248" cy="3127248"/>
            </a:xfrm>
            <a:prstGeom prst="ellipse">
              <a:avLst/>
            </a:prstGeom>
            <a:solidFill>
              <a:srgbClr val="7A1E3C">
                <a:alpha val="12000"/>
              </a:srgbClr>
            </a:solidFill>
            <a:ln/>
          </p:spPr>
        </p:sp>
        <p:sp>
          <p:nvSpPr>
            <p:cNvPr id="3" name="Shape 1"/>
            <p:cNvSpPr/>
            <p:nvPr/>
          </p:nvSpPr>
          <p:spPr>
            <a:xfrm>
              <a:off x="10081260" y="4750308"/>
              <a:ext cx="2386584" cy="2386584"/>
            </a:xfrm>
            <a:prstGeom prst="ellipse">
              <a:avLst/>
            </a:prstGeom>
            <a:solidFill>
              <a:srgbClr val="D4A017">
                <a:alpha val="22000"/>
              </a:srgbClr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10451592" y="5120640"/>
              <a:ext cx="1645920" cy="1645920"/>
            </a:xfrm>
            <a:prstGeom prst="ellipse">
              <a:avLst/>
            </a:prstGeom>
            <a:solidFill>
              <a:srgbClr val="2C6E49">
                <a:alpha val="20000"/>
              </a:srgbClr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10821924" y="5490972"/>
              <a:ext cx="905256" cy="905256"/>
            </a:xfrm>
            <a:prstGeom prst="ellipse">
              <a:avLst/>
            </a:prstGeom>
            <a:solidFill>
              <a:srgbClr val="D4A017">
                <a:alpha val="35000"/>
              </a:srgbClr>
            </a:solidFill>
            <a:ln/>
          </p:spPr>
        </p:sp>
      </p:grpSp>
      <p:sp>
        <p:nvSpPr>
          <p:cNvPr id="6" name="Text 4"/>
          <p:cNvSpPr/>
          <p:nvPr/>
        </p:nvSpPr>
        <p:spPr>
          <a:xfrm>
            <a:off x="4976368" y="28336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- 3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CGSE | VSSC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4D8CD69-696E-4400-92B9-E7DD79CA8C3F}"/>
              </a:ext>
            </a:extLst>
          </p:cNvPr>
          <p:cNvGrpSpPr/>
          <p:nvPr/>
        </p:nvGrpSpPr>
        <p:grpSpPr>
          <a:xfrm>
            <a:off x="-1088136" y="-1132332"/>
            <a:ext cx="3127248" cy="3127248"/>
            <a:chOff x="9710928" y="4379976"/>
            <a:chExt cx="3127248" cy="3127248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8022B930-10E7-4DD9-A5A6-1175341DC651}"/>
                </a:ext>
              </a:extLst>
            </p:cNvPr>
            <p:cNvSpPr/>
            <p:nvPr/>
          </p:nvSpPr>
          <p:spPr>
            <a:xfrm>
              <a:off x="9710928" y="4379976"/>
              <a:ext cx="3127248" cy="3127248"/>
            </a:xfrm>
            <a:prstGeom prst="ellipse">
              <a:avLst/>
            </a:prstGeom>
            <a:solidFill>
              <a:srgbClr val="7A1E3C">
                <a:alpha val="12000"/>
              </a:srgbClr>
            </a:solidFill>
            <a:ln/>
          </p:spPr>
        </p:sp>
        <p:sp>
          <p:nvSpPr>
            <p:cNvPr id="24" name="Shape 1">
              <a:extLst>
                <a:ext uri="{FF2B5EF4-FFF2-40B4-BE49-F238E27FC236}">
                  <a16:creationId xmlns:a16="http://schemas.microsoft.com/office/drawing/2014/main" id="{C8BA13E5-DCBB-4B28-8410-F39EFBED960D}"/>
                </a:ext>
              </a:extLst>
            </p:cNvPr>
            <p:cNvSpPr/>
            <p:nvPr/>
          </p:nvSpPr>
          <p:spPr>
            <a:xfrm>
              <a:off x="10081260" y="4750308"/>
              <a:ext cx="2386584" cy="2386584"/>
            </a:xfrm>
            <a:prstGeom prst="ellipse">
              <a:avLst/>
            </a:prstGeom>
            <a:solidFill>
              <a:srgbClr val="D4A017">
                <a:alpha val="22000"/>
              </a:srgbClr>
            </a:solidFill>
            <a:ln/>
          </p:spPr>
        </p:sp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6D28CCC4-7929-4E64-965B-07736924704D}"/>
                </a:ext>
              </a:extLst>
            </p:cNvPr>
            <p:cNvSpPr/>
            <p:nvPr/>
          </p:nvSpPr>
          <p:spPr>
            <a:xfrm>
              <a:off x="10451592" y="5120640"/>
              <a:ext cx="1645920" cy="1645920"/>
            </a:xfrm>
            <a:prstGeom prst="ellipse">
              <a:avLst/>
            </a:prstGeom>
            <a:solidFill>
              <a:srgbClr val="2C6E49">
                <a:alpha val="20000"/>
              </a:srgbClr>
            </a:solidFill>
            <a:ln/>
          </p:spPr>
        </p:sp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F1D7E689-F787-417C-BC50-D839213F7EAD}"/>
                </a:ext>
              </a:extLst>
            </p:cNvPr>
            <p:cNvSpPr/>
            <p:nvPr/>
          </p:nvSpPr>
          <p:spPr>
            <a:xfrm>
              <a:off x="10821924" y="5490972"/>
              <a:ext cx="905256" cy="905256"/>
            </a:xfrm>
            <a:prstGeom prst="ellipse">
              <a:avLst/>
            </a:prstGeom>
            <a:solidFill>
              <a:srgbClr val="D4A017">
                <a:alpha val="35000"/>
              </a:srgbClr>
            </a:solidFill>
            <a:ln/>
          </p:spPr>
        </p:sp>
      </p:grpSp>
    </p:spTree>
    <p:extLst>
      <p:ext uri="{BB962C8B-B14F-4D97-AF65-F5344CB8AC3E}">
        <p14:creationId xmlns:p14="http://schemas.microsoft.com/office/powerpoint/2010/main" val="1882492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Atham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Uthradam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there is one day when the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Pookalam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made in a square shape. Which day is it?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7F80EF-F573-4D26-84B5-E015264B7B74}"/>
              </a:ext>
            </a:extLst>
          </p:cNvPr>
          <p:cNvGrpSpPr/>
          <p:nvPr/>
        </p:nvGrpSpPr>
        <p:grpSpPr>
          <a:xfrm>
            <a:off x="571500" y="3542211"/>
            <a:ext cx="8092440" cy="1444752"/>
            <a:chOff x="685800" y="4160520"/>
            <a:chExt cx="8092440" cy="1444752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8092440" cy="1444752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55616" y="4233672"/>
              <a:ext cx="7774577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അത്തം മുതൽ ഉത്രാടം വരെയുള്ള പൂക്കളങ്ങളിൽ ഒരു ദിവസം ചതുരത്തിലാണ് പൂക്കളം ഇടുന്നത്  ഏതു നാളിലാണിത്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931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Identify the art form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640080" y="2108345"/>
            <a:ext cx="8125097" cy="777240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ഈ കലാരൂപം തിരിച്ചറിയുക.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  <p:pic>
        <p:nvPicPr>
          <p:cNvPr id="1026" name="Picture 2" descr="Kummattikkali | Dance Forms in Kerala | Kerala | Kerala">
            <a:extLst>
              <a:ext uri="{FF2B5EF4-FFF2-40B4-BE49-F238E27FC236}">
                <a16:creationId xmlns:a16="http://schemas.microsoft.com/office/drawing/2014/main" id="{C180EDB5-257E-44A8-9648-ADBD7CA82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834" y="3242181"/>
            <a:ext cx="3974646" cy="279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82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In which year was the silver trophy presented to the winners of the Nehru Trophy Boat Race?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601327" y="2582091"/>
            <a:ext cx="8231777" cy="1110343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നെഹ്റു ട്രോഫി വള്ളംകളിയിലെ വിജയികൾക്ക് വെള്ളിക്കപ്പ് സമ്മാനിച്ചത് ഏത് വർഷം?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021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Pyramid shaped clay figure set during  center of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pookalam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533400" y="2651759"/>
            <a:ext cx="8231777" cy="1110343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പൂക്കളത്തിന്റെ മധ്യഭാഗത്ത് സ്ഥാപിക്കുന്ന പിരമിഡ് ആകൃതിയിലുള്ള മൺരൂപം ഏതാണ്?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783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58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Who is known as the ‘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</a:rPr>
              <a:t>Thamburan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 of Onam Songs’?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640080" y="2314303"/>
            <a:ext cx="8231777" cy="1210058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‘ഓണപ്പാട്ടുകളുടെ തമ്പുരാൻ’ എന്നറിയപ്പെട്ടത് ആര്?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8647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601327" y="1852081"/>
            <a:ext cx="8231777" cy="1110344"/>
            <a:chOff x="548640" y="3296194"/>
            <a:chExt cx="7863840" cy="1572988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2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en-IN" sz="2400" b="1" dirty="0">
                  <a:solidFill>
                    <a:schemeClr val="accent2">
                      <a:lumMod val="50000"/>
                    </a:schemeClr>
                  </a:solidFill>
                </a:rPr>
                <a:t>Who wrote the Onam poem “</a:t>
              </a:r>
              <a:r>
                <a:rPr lang="en-IN" sz="2400" b="1" dirty="0" err="1">
                  <a:solidFill>
                    <a:schemeClr val="accent2">
                      <a:lumMod val="50000"/>
                    </a:schemeClr>
                  </a:solidFill>
                </a:rPr>
                <a:t>Ormaykku</a:t>
              </a:r>
              <a:r>
                <a:rPr lang="en-IN" sz="2400" b="1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  <a:r>
                <a:rPr lang="en-IN" sz="2400" b="1" dirty="0" err="1">
                  <a:solidFill>
                    <a:schemeClr val="accent2">
                      <a:lumMod val="50000"/>
                    </a:schemeClr>
                  </a:solidFill>
                </a:rPr>
                <a:t>peraanithonam</a:t>
              </a:r>
              <a:r>
                <a:rPr lang="en-IN" sz="2400" b="1" dirty="0">
                  <a:solidFill>
                    <a:schemeClr val="accent2">
                      <a:lumMod val="50000"/>
                    </a:schemeClr>
                  </a:solidFill>
                </a:rPr>
                <a:t>” (“</a:t>
              </a: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ഓർമ്മയ്ക്ക് പേരാണിതോണം”)?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2404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8459180" cy="94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In which state is the tourist destination of Mahabalipuram located?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800750" y="2631292"/>
            <a:ext cx="8231777" cy="1214754"/>
            <a:chOff x="702129" y="3708258"/>
            <a:chExt cx="7863840" cy="1579091"/>
          </a:xfrm>
        </p:grpSpPr>
        <p:sp>
          <p:nvSpPr>
            <p:cNvPr id="11" name="Shape 9"/>
            <p:cNvSpPr/>
            <p:nvPr/>
          </p:nvSpPr>
          <p:spPr>
            <a:xfrm>
              <a:off x="702129" y="3708258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68683" y="3915749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മഹാബലിപുരം എന്ന വിനോദസഞ്ചാര കേന്ദ്രം ഏത് സംസ്ഥാനത്താണ് സ്ഥിതി ചെയ്യുന്നത്?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4612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538369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Which 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</a:rPr>
              <a:t>Theyyam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 heralds the arrival of Onam in Malabar?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601327" y="2582091"/>
            <a:ext cx="8231777" cy="1110343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400" b="1" dirty="0">
                  <a:solidFill>
                    <a:schemeClr val="accent2">
                      <a:lumMod val="50000"/>
                    </a:schemeClr>
                  </a:solidFill>
                </a:rPr>
                <a:t>മലബാറിൽ ഓണത്തിന്റെ വരവറിയിച്ച് എത്തുന്ന തെയ്യം ഏത്?</a:t>
              </a:r>
              <a:endParaRPr lang="en-US" sz="22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1422" y="2314303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5928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4700" y="374904"/>
            <a:ext cx="5559552" cy="5559552"/>
          </a:xfrm>
          <a:prstGeom prst="ellipse">
            <a:avLst/>
          </a:prstGeom>
          <a:solidFill>
            <a:srgbClr val="7A1E3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73068" y="1033272"/>
            <a:ext cx="4242816" cy="4242816"/>
          </a:xfrm>
          <a:prstGeom prst="ellipse">
            <a:avLst/>
          </a:prstGeom>
          <a:solidFill>
            <a:srgbClr val="D4A017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631436" y="1691640"/>
            <a:ext cx="2926080" cy="2926080"/>
          </a:xfrm>
          <a:prstGeom prst="ellipse">
            <a:avLst/>
          </a:prstGeom>
          <a:solidFill>
            <a:srgbClr val="2C6E49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89804" y="2350008"/>
            <a:ext cx="1609344" cy="1609344"/>
          </a:xfrm>
          <a:prstGeom prst="ellipse">
            <a:avLst/>
          </a:prstGeom>
          <a:solidFill>
            <a:srgbClr val="D4A017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ഓണാശംസകൾ!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ONAM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48" y="6140849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BF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taking part</a:t>
            </a:r>
            <a:endParaRPr lang="en-US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840</Words>
  <Application>Microsoft Office PowerPoint</Application>
  <PresentationFormat>Widescreen</PresentationFormat>
  <Paragraphs>197</Paragraphs>
  <Slides>30</Slides>
  <Notes>30</Notes>
  <HiddenSlides>0</HiddenSlides>
  <MMClips>24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</vt:lpstr>
      <vt:lpstr>Kartika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29</cp:revision>
  <dcterms:created xsi:type="dcterms:W3CDTF">2026-08-17T13:16:56Z</dcterms:created>
  <dcterms:modified xsi:type="dcterms:W3CDTF">2026-08-20T17:03:15Z</dcterms:modified>
</cp:coreProperties>
</file>